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EEBEDC-B5CE-8645-5BD3-C8CB6570713F}" v="23" dt="2026-05-27T16:36:14.489"/>
    <p1510:client id="{F4DBBE4E-6D41-8F40-363C-0F14FB9BADE4}" v="140" dt="2026-05-27T01:12:28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gla celik" userId="S::ccelik@my.yearupunited.org::7b188b8e-7d7c-466a-bff8-d38aee0ad76d" providerId="AD" clId="Web-{F4DBBE4E-6D41-8F40-363C-0F14FB9BADE4}"/>
    <pc:docChg chg="modSld">
      <pc:chgData name="cagla celik" userId="S::ccelik@my.yearupunited.org::7b188b8e-7d7c-466a-bff8-d38aee0ad76d" providerId="AD" clId="Web-{F4DBBE4E-6D41-8F40-363C-0F14FB9BADE4}" dt="2026-05-27T01:12:28.713" v="138" actId="1076"/>
      <pc:docMkLst>
        <pc:docMk/>
      </pc:docMkLst>
      <pc:sldChg chg="modSp">
        <pc:chgData name="cagla celik" userId="S::ccelik@my.yearupunited.org::7b188b8e-7d7c-466a-bff8-d38aee0ad76d" providerId="AD" clId="Web-{F4DBBE4E-6D41-8F40-363C-0F14FB9BADE4}" dt="2026-05-27T01:12:28.713" v="138" actId="1076"/>
        <pc:sldMkLst>
          <pc:docMk/>
          <pc:sldMk cId="0" sldId="256"/>
        </pc:sldMkLst>
        <pc:spChg chg="mod">
          <ac:chgData name="cagla celik" userId="S::ccelik@my.yearupunited.org::7b188b8e-7d7c-466a-bff8-d38aee0ad76d" providerId="AD" clId="Web-{F4DBBE4E-6D41-8F40-363C-0F14FB9BADE4}" dt="2026-05-27T01:12:14.759" v="135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12:22.635" v="13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12:25.822" v="137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12:28.713" v="138" actId="1076"/>
          <ac:spMkLst>
            <pc:docMk/>
            <pc:sldMk cId="0" sldId="256"/>
            <ac:spMk id="7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F4DBBE4E-6D41-8F40-363C-0F14FB9BADE4}" dt="2026-05-27T01:11:12.319" v="123" actId="14100"/>
          <ac:picMkLst>
            <pc:docMk/>
            <pc:sldMk cId="0" sldId="256"/>
            <ac:picMk id="5" creationId="{00000000-0000-0000-0000-000000000000}"/>
          </ac:picMkLst>
        </pc:picChg>
      </pc:sldChg>
      <pc:sldChg chg="modSp">
        <pc:chgData name="cagla celik" userId="S::ccelik@my.yearupunited.org::7b188b8e-7d7c-466a-bff8-d38aee0ad76d" providerId="AD" clId="Web-{F4DBBE4E-6D41-8F40-363C-0F14FB9BADE4}" dt="2026-05-27T00:59:44.291" v="20" actId="20577"/>
        <pc:sldMkLst>
          <pc:docMk/>
          <pc:sldMk cId="0" sldId="257"/>
        </pc:sldMkLst>
        <pc:spChg chg="mod">
          <ac:chgData name="cagla celik" userId="S::ccelik@my.yearupunited.org::7b188b8e-7d7c-466a-bff8-d38aee0ad76d" providerId="AD" clId="Web-{F4DBBE4E-6D41-8F40-363C-0F14FB9BADE4}" dt="2026-05-27T00:58:50.023" v="1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8:57.289" v="1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06.461" v="1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15.555" v="14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39.181" v="19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23.524" v="1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44.291" v="2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9:34.556" v="18" actId="20577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">
        <pc:chgData name="cagla celik" userId="S::ccelik@my.yearupunited.org::7b188b8e-7d7c-466a-bff8-d38aee0ad76d" providerId="AD" clId="Web-{F4DBBE4E-6D41-8F40-363C-0F14FB9BADE4}" dt="2026-05-27T01:07:25.888" v="91" actId="20577"/>
        <pc:sldMkLst>
          <pc:docMk/>
          <pc:sldMk cId="0" sldId="258"/>
        </pc:sldMkLst>
        <pc:spChg chg="mod">
          <ac:chgData name="cagla celik" userId="S::ccelik@my.yearupunited.org::7b188b8e-7d7c-466a-bff8-d38aee0ad76d" providerId="AD" clId="Web-{F4DBBE4E-6D41-8F40-363C-0F14FB9BADE4}" dt="2026-05-27T00:59:55.166" v="21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4:15.146" v="46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0:08.088" v="23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0:22.058" v="25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0:14.432" v="24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34.837" v="69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44.150" v="71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38.525" v="70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48.291" v="72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29.790" v="68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5:52.447" v="73" actId="20577"/>
          <ac:spMkLst>
            <pc:docMk/>
            <pc:sldMk cId="0" sldId="258"/>
            <ac:spMk id="14" creationId="{00000000-0000-0000-0000-000000000000}"/>
          </ac:spMkLst>
        </pc:spChg>
        <pc:spChg chg="add del mod">
          <ac:chgData name="cagla celik" userId="S::ccelik@my.yearupunited.org::7b188b8e-7d7c-466a-bff8-d38aee0ad76d" providerId="AD" clId="Web-{F4DBBE4E-6D41-8F40-363C-0F14FB9BADE4}" dt="2026-05-27T01:05:05.617" v="60" actId="20577"/>
          <ac:spMkLst>
            <pc:docMk/>
            <pc:sldMk cId="0" sldId="258"/>
            <ac:spMk id="15" creationId="{00000000-0000-0000-0000-000000000000}"/>
          </ac:spMkLst>
        </pc:spChg>
        <pc:spChg chg="add del mod">
          <ac:chgData name="cagla celik" userId="S::ccelik@my.yearupunited.org::7b188b8e-7d7c-466a-bff8-d38aee0ad76d" providerId="AD" clId="Web-{F4DBBE4E-6D41-8F40-363C-0F14FB9BADE4}" dt="2026-05-27T01:05:24.399" v="67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01.682" v="74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06.245" v="75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13.261" v="76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37.574" v="81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16.683" v="77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45.590" v="83" actId="20577"/>
          <ac:spMkLst>
            <pc:docMk/>
            <pc:sldMk cId="0" sldId="258"/>
            <ac:spMk id="24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20.448" v="78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51.215" v="84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24.120" v="79" actId="2057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56.434" v="85" actId="20577"/>
          <ac:spMkLst>
            <pc:docMk/>
            <pc:sldMk cId="0" sldId="258"/>
            <ac:spMk id="28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6:28.558" v="80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7:00.997" v="86" actId="20577"/>
          <ac:spMkLst>
            <pc:docMk/>
            <pc:sldMk cId="0" sldId="258"/>
            <ac:spMk id="30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7:25.888" v="91" actId="20577"/>
          <ac:spMkLst>
            <pc:docMk/>
            <pc:sldMk cId="0" sldId="258"/>
            <ac:spMk id="32" creationId="{00000000-0000-0000-0000-000000000000}"/>
          </ac:spMkLst>
        </pc:spChg>
      </pc:sldChg>
      <pc:sldChg chg="modSp">
        <pc:chgData name="cagla celik" userId="S::ccelik@my.yearupunited.org::7b188b8e-7d7c-466a-bff8-d38aee0ad76d" providerId="AD" clId="Web-{F4DBBE4E-6D41-8F40-363C-0F14FB9BADE4}" dt="2026-05-27T01:07:48.155" v="95" actId="20577"/>
        <pc:sldMkLst>
          <pc:docMk/>
          <pc:sldMk cId="0" sldId="259"/>
        </pc:sldMkLst>
        <pc:spChg chg="mod">
          <ac:chgData name="cagla celik" userId="S::ccelik@my.yearupunited.org::7b188b8e-7d7c-466a-bff8-d38aee0ad76d" providerId="AD" clId="Web-{F4DBBE4E-6D41-8F40-363C-0F14FB9BADE4}" dt="2026-05-27T01:07:34.873" v="9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7:40.077" v="93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0:57:03.097" v="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7:48.155" v="95" actId="20577"/>
          <ac:spMkLst>
            <pc:docMk/>
            <pc:sldMk cId="0" sldId="259"/>
            <ac:spMk id="7" creationId="{00000000-0000-0000-0000-000000000000}"/>
          </ac:spMkLst>
        </pc:spChg>
        <pc:picChg chg="mod">
          <ac:chgData name="cagla celik" userId="S::ccelik@my.yearupunited.org::7b188b8e-7d7c-466a-bff8-d38aee0ad76d" providerId="AD" clId="Web-{F4DBBE4E-6D41-8F40-363C-0F14FB9BADE4}" dt="2026-05-27T00:57:28.051" v="5" actId="14100"/>
          <ac:picMkLst>
            <pc:docMk/>
            <pc:sldMk cId="0" sldId="259"/>
            <ac:picMk id="5" creationId="{00000000-0000-0000-0000-000000000000}"/>
          </ac:picMkLst>
        </pc:picChg>
      </pc:sldChg>
      <pc:sldChg chg="modSp">
        <pc:chgData name="cagla celik" userId="S::ccelik@my.yearupunited.org::7b188b8e-7d7c-466a-bff8-d38aee0ad76d" providerId="AD" clId="Web-{F4DBBE4E-6D41-8F40-363C-0F14FB9BADE4}" dt="2026-05-27T01:08:06.921" v="98" actId="20577"/>
        <pc:sldMkLst>
          <pc:docMk/>
          <pc:sldMk cId="0" sldId="260"/>
        </pc:sldMkLst>
        <pc:spChg chg="mod">
          <ac:chgData name="cagla celik" userId="S::ccelik@my.yearupunited.org::7b188b8e-7d7c-466a-bff8-d38aee0ad76d" providerId="AD" clId="Web-{F4DBBE4E-6D41-8F40-363C-0F14FB9BADE4}" dt="2026-05-27T01:07:58.062" v="97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7:52.436" v="96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06.921" v="98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">
        <pc:chgData name="cagla celik" userId="S::ccelik@my.yearupunited.org::7b188b8e-7d7c-466a-bff8-d38aee0ad76d" providerId="AD" clId="Web-{F4DBBE4E-6D41-8F40-363C-0F14FB9BADE4}" dt="2026-05-27T01:08:31.375" v="102" actId="20577"/>
        <pc:sldMkLst>
          <pc:docMk/>
          <pc:sldMk cId="0" sldId="261"/>
        </pc:sldMkLst>
        <pc:spChg chg="mod">
          <ac:chgData name="cagla celik" userId="S::ccelik@my.yearupunited.org::7b188b8e-7d7c-466a-bff8-d38aee0ad76d" providerId="AD" clId="Web-{F4DBBE4E-6D41-8F40-363C-0F14FB9BADE4}" dt="2026-05-27T01:08:15.453" v="99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19.844" v="10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31.375" v="102" actId="20577"/>
          <ac:spMkLst>
            <pc:docMk/>
            <pc:sldMk cId="0" sldId="261"/>
            <ac:spMk id="7" creationId="{00000000-0000-0000-0000-000000000000}"/>
          </ac:spMkLst>
        </pc:spChg>
      </pc:sldChg>
      <pc:sldChg chg="modSp">
        <pc:chgData name="cagla celik" userId="S::ccelik@my.yearupunited.org::7b188b8e-7d7c-466a-bff8-d38aee0ad76d" providerId="AD" clId="Web-{F4DBBE4E-6D41-8F40-363C-0F14FB9BADE4}" dt="2026-05-27T01:09:23.581" v="112" actId="20577"/>
        <pc:sldMkLst>
          <pc:docMk/>
          <pc:sldMk cId="0" sldId="262"/>
        </pc:sldMkLst>
        <pc:spChg chg="mod">
          <ac:chgData name="cagla celik" userId="S::ccelik@my.yearupunited.org::7b188b8e-7d7c-466a-bff8-d38aee0ad76d" providerId="AD" clId="Web-{F4DBBE4E-6D41-8F40-363C-0F14FB9BADE4}" dt="2026-05-27T01:08:42.063" v="103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46.235" v="10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51.501" v="105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8:56.064" v="106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01.080" v="107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05.064" v="108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10.252" v="109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14.174" v="110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19.674" v="111" actId="2057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cagla celik" userId="S::ccelik@my.yearupunited.org::7b188b8e-7d7c-466a-bff8-d38aee0ad76d" providerId="AD" clId="Web-{F4DBBE4E-6D41-8F40-363C-0F14FB9BADE4}" dt="2026-05-27T01:09:23.581" v="112" actId="20577"/>
          <ac:spMkLst>
            <pc:docMk/>
            <pc:sldMk cId="0" sldId="262"/>
            <ac:spMk id="19" creationId="{00000000-0000-0000-0000-000000000000}"/>
          </ac:spMkLst>
        </pc:spChg>
      </pc:sldChg>
    </pc:docChg>
  </pc:docChgLst>
  <pc:docChgLst>
    <pc:chgData name="cagla celik" userId="S::ccelik@my.yearupunited.org::7b188b8e-7d7c-466a-bff8-d38aee0ad76d" providerId="AD" clId="Web-{CFEEBEDC-B5CE-8645-5BD3-C8CB6570713F}"/>
    <pc:docChg chg="modSld">
      <pc:chgData name="cagla celik" userId="S::ccelik@my.yearupunited.org::7b188b8e-7d7c-466a-bff8-d38aee0ad76d" providerId="AD" clId="Web-{CFEEBEDC-B5CE-8645-5BD3-C8CB6570713F}" dt="2026-05-27T16:36:14.489" v="22" actId="1076"/>
      <pc:docMkLst>
        <pc:docMk/>
      </pc:docMkLst>
      <pc:sldChg chg="modSp">
        <pc:chgData name="cagla celik" userId="S::ccelik@my.yearupunited.org::7b188b8e-7d7c-466a-bff8-d38aee0ad76d" providerId="AD" clId="Web-{CFEEBEDC-B5CE-8645-5BD3-C8CB6570713F}" dt="2026-05-27T16:36:14.489" v="22" actId="1076"/>
        <pc:sldMkLst>
          <pc:docMk/>
          <pc:sldMk cId="0" sldId="258"/>
        </pc:sldMkLst>
        <pc:spChg chg="mod">
          <ac:chgData name="cagla celik" userId="S::ccelik@my.yearupunited.org::7b188b8e-7d7c-466a-bff8-d38aee0ad76d" providerId="AD" clId="Web-{CFEEBEDC-B5CE-8645-5BD3-C8CB6570713F}" dt="2026-05-27T16:36:14.489" v="22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36:09.583" v="21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36:06.708" v="20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36:00.864" v="1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35:54.707" v="1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35:45.223" v="1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27:45.002" v="7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agla celik" userId="S::ccelik@my.yearupunited.org::7b188b8e-7d7c-466a-bff8-d38aee0ad76d" providerId="AD" clId="Web-{CFEEBEDC-B5CE-8645-5BD3-C8CB6570713F}" dt="2026-05-27T16:27:38.361" v="6" actId="20577"/>
          <ac:spMkLst>
            <pc:docMk/>
            <pc:sldMk cId="0" sldId="258"/>
            <ac:spMk id="29" creationId="{00000000-0000-0000-0000-000000000000}"/>
          </ac:spMkLst>
        </pc:spChg>
        <pc:picChg chg="mod">
          <ac:chgData name="cagla celik" userId="S::ccelik@my.yearupunited.org::7b188b8e-7d7c-466a-bff8-d38aee0ad76d" providerId="AD" clId="Web-{CFEEBEDC-B5CE-8645-5BD3-C8CB6570713F}" dt="2026-05-27T16:36:03.457" v="19" actId="1076"/>
          <ac:picMkLst>
            <pc:docMk/>
            <pc:sldMk cId="0" sldId="258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4673F-21D0-441A-87B5-D6FC98424FAF}" type="datetimeFigureOut"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4C150-F852-4002-B628-DE1D3E8A3D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3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7312" y="271909"/>
            <a:ext cx="5035361" cy="40594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>
              <a:lnSpc>
                <a:spcPts val="7992"/>
              </a:lnSpc>
            </a:pPr>
            <a:r>
              <a:rPr lang="en-US" sz="6750" dirty="0" err="1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EmporiUm</a:t>
            </a:r>
            <a:br>
              <a:rPr lang="en-US" sz="6750" dirty="0">
                <a:latin typeface="Bookman Old Style"/>
                <a:ea typeface="Trocchi Regular" pitchFamily="34" charset="-122"/>
                <a:cs typeface="Trocchi Regular" pitchFamily="34" charset="-120"/>
              </a:rPr>
            </a:br>
            <a:r>
              <a:rPr lang="en-US" sz="6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Northeast</a:t>
            </a:r>
            <a:br>
              <a:rPr lang="en-US" sz="6750" dirty="0">
                <a:latin typeface="Bookman Old Style"/>
                <a:ea typeface="Trocchi Regular" pitchFamily="34" charset="-122"/>
                <a:cs typeface="Trocchi Regular" pitchFamily="34" charset="-120"/>
              </a:rPr>
            </a:br>
            <a:r>
              <a:rPr lang="en-US" sz="6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Territory</a:t>
            </a:r>
            <a:br>
              <a:rPr lang="en-US" sz="6750" dirty="0">
                <a:latin typeface="Bookman Old Style"/>
                <a:ea typeface="Trocchi Regular" pitchFamily="34" charset="-122"/>
                <a:cs typeface="Trocchi Regular" pitchFamily="34" charset="-120"/>
              </a:rPr>
            </a:br>
            <a:r>
              <a:rPr lang="en-US" sz="6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Analysis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5167312" y="5675561"/>
            <a:ext cx="4676775" cy="2720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142"/>
              </a:lnSpc>
              <a:spcBef>
                <a:spcPts val="543"/>
              </a:spcBef>
            </a:pPr>
            <a:r>
              <a:rPr lang="en-US" sz="1500" kern="0" spc="15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Miami Vue vs Bo Heap</a:t>
            </a:r>
            <a:endParaRPr lang="en-US" sz="15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A map of the northeastern United States highlighting two distinct regions labeled 'Miami Vue' and 'Bo Heap'."/>
          <p:cNvPicPr>
            <a:picLocks noChangeAspect="1"/>
          </p:cNvPicPr>
          <p:nvPr/>
        </p:nvPicPr>
        <p:blipFill>
          <a:blip r:embed="rId3"/>
          <a:srcRect l="28231" t="200" r="7515" b="48"/>
          <a:stretch>
            <a:fillRect/>
          </a:stretch>
        </p:blipFill>
        <p:spPr>
          <a:xfrm>
            <a:off x="-1488" y="1"/>
            <a:ext cx="5060001" cy="6855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67312" y="5951489"/>
            <a:ext cx="3924300" cy="21327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</a:pPr>
            <a:r>
              <a:rPr lang="en-US" sz="15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Cagla Celik</a:t>
            </a:r>
            <a:endParaRPr lang="en-US" dirty="0">
              <a:latin typeface="Bookman Old Style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67312" y="6340228"/>
            <a:ext cx="4209871" cy="23127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821"/>
              </a:lnSpc>
              <a:spcBef>
                <a:spcPts val="711"/>
              </a:spcBef>
            </a:pPr>
            <a:r>
              <a:rPr lang="en-US" sz="130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Bold" pitchFamily="34" charset="-122"/>
                <a:cs typeface="DM Sans Bold" pitchFamily="34" charset="-120"/>
              </a:rPr>
              <a:t>Year Up United Data Analyst Training Academy</a:t>
            </a:r>
            <a:endParaRPr lang="en-US" dirty="0">
              <a:latin typeface="Bookman Old Sty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5345"/>
            <a:ext cx="11334750" cy="5637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40"/>
              </a:lnSpc>
            </a:pP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Project Overview &amp; Objectives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55489"/>
            <a:ext cx="11334750" cy="2492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63"/>
              </a:lnSpc>
              <a:spcBef>
                <a:spcPts val="899"/>
              </a:spcBef>
            </a:pP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Analyzing </a:t>
            </a:r>
            <a:r>
              <a:rPr lang="en-US" sz="1400" kern="0" spc="14" dirty="0" err="1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EmporiUm's</a:t>
            </a: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 Northeast Sales Territories for Next Quarter, 2026 Marketing Strategy</a:t>
            </a:r>
            <a:endParaRPr lang="en-US" sz="14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476375" y="2705338"/>
            <a:ext cx="1428750" cy="1428750"/>
          </a:xfrm>
          <a:prstGeom prst="ellipse">
            <a:avLst/>
          </a:prstGeom>
          <a:solidFill>
            <a:srgbClr val="FFA300"/>
          </a:solidFill>
          <a:ln>
            <a:miter lim="800000"/>
          </a:ln>
        </p:spPr>
      </p:sp>
      <p:pic>
        <p:nvPicPr>
          <p:cNvPr id="5" name="Image 0" descr="3be12d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913" y="3093132"/>
            <a:ext cx="590550" cy="64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4838" y="4233654"/>
            <a:ext cx="3171825" cy="2559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Project Goal</a:t>
            </a:r>
            <a:endParaRPr lang="en-US" dirty="0">
              <a:latin typeface="Bookman Old Style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9899" y="4574024"/>
            <a:ext cx="3381702" cy="45333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To analyze </a:t>
            </a:r>
            <a:r>
              <a:rPr lang="en-US" sz="1250" kern="0" spc="13" dirty="0" err="1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EmporiUm's</a:t>
            </a: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 Northeast sales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territories and drive strategic marketing.</a:t>
            </a:r>
            <a:endParaRPr lang="en-US" sz="1250" dirty="0">
              <a:latin typeface="Bookman Old Style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81625" y="2705338"/>
            <a:ext cx="1428750" cy="1428750"/>
          </a:xfrm>
          <a:prstGeom prst="ellipse">
            <a:avLst/>
          </a:prstGeom>
          <a:solidFill>
            <a:srgbClr val="A68118"/>
          </a:solidFill>
          <a:ln>
            <a:miter lim="800000"/>
          </a:ln>
        </p:spPr>
      </p:sp>
      <p:pic>
        <p:nvPicPr>
          <p:cNvPr id="9" name="Image 1" descr="664b9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995" y="3130804"/>
            <a:ext cx="619125" cy="619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76738" y="4233654"/>
            <a:ext cx="3438525" cy="2559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Key Objectives</a:t>
            </a:r>
            <a:endParaRPr lang="en-US" dirty="0">
              <a:latin typeface="Bookman Old Style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260622" y="4574024"/>
            <a:ext cx="3670756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Compare territory sales, identify top stores,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analyze customer and product trends, and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recommend a new marketing strategy.</a:t>
            </a:r>
            <a:endParaRPr lang="en-US" sz="1250" dirty="0">
              <a:latin typeface="Bookman Old Style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286875" y="2705338"/>
            <a:ext cx="1428750" cy="1428750"/>
          </a:xfrm>
          <a:prstGeom prst="ellipse">
            <a:avLst/>
          </a:prstGeom>
          <a:solidFill>
            <a:srgbClr val="FDD16E"/>
          </a:solidFill>
          <a:ln>
            <a:miter lim="800000"/>
          </a:ln>
        </p:spPr>
      </p:sp>
      <p:pic>
        <p:nvPicPr>
          <p:cNvPr id="13" name="Image 2" descr="5245a4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616" y="3176848"/>
            <a:ext cx="609600" cy="4667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9625" y="4233654"/>
            <a:ext cx="3143250" cy="2559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Tools Used</a:t>
            </a:r>
            <a:endParaRPr lang="en-US" dirty="0">
              <a:latin typeface="Bookman Old Style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28720" y="4574024"/>
            <a:ext cx="3345061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Python (Pandas, NumPy, Matplotlib) and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 err="1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Jupyter</a:t>
            </a: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 Notebook were utilized for the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analysis.</a:t>
            </a:r>
            <a:endParaRPr lang="en-US" sz="1250" dirty="0">
              <a:latin typeface="Bookman Old Sty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132" y="525440"/>
            <a:ext cx="11067604" cy="5048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3975"/>
              </a:lnSpc>
            </a:pPr>
            <a:r>
              <a:rPr lang="en-US" sz="39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Playfair Display Regular" pitchFamily="34" charset="-122"/>
                <a:cs typeface="Playfair Display Regular" pitchFamily="34" charset="-120"/>
              </a:rPr>
              <a:t>Territory Snapshot</a:t>
            </a:r>
            <a:endParaRPr lang="en-US" sz="3950" dirty="0">
              <a:latin typeface="Bookman Old Style"/>
            </a:endParaRPr>
          </a:p>
        </p:txBody>
      </p:sp>
      <p:pic>
        <p:nvPicPr>
          <p:cNvPr id="3" name="Image 0" descr="0621ba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27" y="1186930"/>
            <a:ext cx="5660111" cy="5075660"/>
          </a:xfrm>
          <a:prstGeom prst="rect">
            <a:avLst/>
          </a:prstGeom>
        </p:spPr>
      </p:pic>
      <p:pic>
        <p:nvPicPr>
          <p:cNvPr id="4" name="Image 1" descr="0c286b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69" y="1279632"/>
            <a:ext cx="85725" cy="4762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228" y="1527216"/>
            <a:ext cx="4971752" cy="304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2400" b="1" kern="0" spc="24" dirty="0">
                <a:solidFill>
                  <a:srgbClr val="2563EB"/>
                </a:solidFill>
                <a:latin typeface="Bookman Old Style"/>
                <a:ea typeface="DM Sans Bold" pitchFamily="34" charset="-122"/>
                <a:cs typeface="DM Sans Bold" pitchFamily="34" charset="-120"/>
              </a:rPr>
              <a:t>Miami Vue</a:t>
            </a:r>
            <a:endParaRPr lang="en-US" b="1">
              <a:latin typeface="Bookman Old Style"/>
            </a:endParaRPr>
          </a:p>
        </p:txBody>
      </p:sp>
      <p:sp>
        <p:nvSpPr>
          <p:cNvPr id="6" name="Text 2"/>
          <p:cNvSpPr/>
          <p:nvPr/>
        </p:nvSpPr>
        <p:spPr>
          <a:xfrm>
            <a:off x="731228" y="2073734"/>
            <a:ext cx="4971752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00"/>
              </a:lnSpc>
            </a:pPr>
            <a:r>
              <a:rPr lang="en-US" sz="1500" i="1" kern="0" spc="15" dirty="0">
                <a:solidFill>
                  <a:srgbClr val="4B5563"/>
                </a:solidFill>
                <a:latin typeface="Bookman Old Style"/>
                <a:ea typeface="Carlito Regular Italic" pitchFamily="34" charset="-122"/>
                <a:cs typeface="Carlito Regular Italic" pitchFamily="34" charset="-120"/>
              </a:rPr>
              <a:t>Territory Manager — Northeast</a:t>
            </a:r>
            <a:endParaRPr lang="en-US" dirty="0">
              <a:latin typeface="Bookman Old Style"/>
            </a:endParaRPr>
          </a:p>
        </p:txBody>
      </p:sp>
      <p:sp>
        <p:nvSpPr>
          <p:cNvPr id="7" name="Text 3"/>
          <p:cNvSpPr/>
          <p:nvPr/>
        </p:nvSpPr>
        <p:spPr>
          <a:xfrm>
            <a:off x="600316" y="2694789"/>
            <a:ext cx="1802011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2563EB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16</a:t>
            </a:r>
            <a:endParaRPr lang="en-US" sz="2000" dirty="0">
              <a:latin typeface="Bookman Old Style"/>
            </a:endParaRPr>
          </a:p>
        </p:txBody>
      </p:sp>
      <p:sp>
        <p:nvSpPr>
          <p:cNvPr id="8" name="Text 4"/>
          <p:cNvSpPr/>
          <p:nvPr/>
        </p:nvSpPr>
        <p:spPr>
          <a:xfrm>
            <a:off x="2559964" y="2712499"/>
            <a:ext cx="3143101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New Jersey Stores</a:t>
            </a:r>
            <a:endParaRPr lang="en-US" sz="1700" dirty="0">
              <a:latin typeface="Bookman Old Style"/>
            </a:endParaRPr>
          </a:p>
        </p:txBody>
      </p:sp>
      <p:sp>
        <p:nvSpPr>
          <p:cNvPr id="9" name="Text 5"/>
          <p:cNvSpPr/>
          <p:nvPr/>
        </p:nvSpPr>
        <p:spPr>
          <a:xfrm>
            <a:off x="600316" y="3304367"/>
            <a:ext cx="1802011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2563EB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$5.17M</a:t>
            </a:r>
            <a:endParaRPr lang="en-US" sz="2000" dirty="0">
              <a:latin typeface="Bookman Old Style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59964" y="3322078"/>
            <a:ext cx="3143101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Total Revenue (2022–2025</a:t>
            </a:r>
            <a:r>
              <a:rPr lang="en-US" sz="1700" kern="0" spc="17" dirty="0">
                <a:solidFill>
                  <a:srgbClr val="1E2761"/>
                </a:solidFill>
                <a:latin typeface="Carlito Regular"/>
                <a:ea typeface="Carlito Regular" pitchFamily="34" charset="-122"/>
                <a:cs typeface="Carlito Regular" pitchFamily="34" charset="-120"/>
              </a:rPr>
              <a:t>)</a:t>
            </a:r>
            <a:endParaRPr lang="en-US" sz="1700" dirty="0">
              <a:latin typeface="Carlito Regular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00316" y="3913946"/>
            <a:ext cx="1802011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2563EB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38,195</a:t>
            </a:r>
            <a:endParaRPr lang="en-US" sz="2000" dirty="0">
              <a:latin typeface="Bookman Old Style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559964" y="3931656"/>
            <a:ext cx="3143101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Transactions</a:t>
            </a:r>
            <a:endParaRPr lang="en-US" sz="1700" dirty="0">
              <a:latin typeface="Bookman Old Style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00316" y="4539971"/>
            <a:ext cx="1802011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2563EB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$1.87M</a:t>
            </a:r>
            <a:endParaRPr lang="en-US" sz="2000" dirty="0">
              <a:latin typeface="Bookman Old Style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2559964" y="4541235"/>
            <a:ext cx="3143101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Revenue in 2025 alone</a:t>
            </a:r>
            <a:endParaRPr lang="en-US" sz="1700" dirty="0">
              <a:latin typeface="Bookman Old Style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00316" y="5067319"/>
            <a:ext cx="1960989" cy="4435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>
              <a:lnSpc>
                <a:spcPts val="2025"/>
              </a:lnSpc>
            </a:pPr>
            <a:r>
              <a:rPr lang="en-US" kern="0" spc="20">
                <a:solidFill>
                  <a:srgbClr val="2563EB"/>
                </a:solidFill>
                <a:latin typeface="Bookman Old Style"/>
                <a:ea typeface="Calibri"/>
                <a:cs typeface="Calibri"/>
              </a:rPr>
              <a:t>Region Director:</a:t>
            </a:r>
            <a:r>
              <a:rPr lang="en-US" sz="2000" kern="0" spc="20" dirty="0">
                <a:solidFill>
                  <a:srgbClr val="2563EB"/>
                </a:solidFill>
                <a:latin typeface="Carlito Bold"/>
                <a:ea typeface="Calibri"/>
                <a:cs typeface="Calibri"/>
              </a:rPr>
              <a:t> </a:t>
            </a:r>
          </a:p>
        </p:txBody>
      </p:sp>
      <p:sp>
        <p:nvSpPr>
          <p:cNvPr id="16" name="Text 12"/>
          <p:cNvSpPr/>
          <p:nvPr/>
        </p:nvSpPr>
        <p:spPr>
          <a:xfrm>
            <a:off x="2559964" y="5134368"/>
            <a:ext cx="3143101" cy="3122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>
              <a:lnSpc>
                <a:spcPts val="1725"/>
              </a:lnSpc>
            </a:pPr>
            <a:r>
              <a:rPr lang="en-US" sz="1700" kern="0" spc="17">
                <a:solidFill>
                  <a:srgbClr val="1E2761"/>
                </a:solidFill>
                <a:latin typeface="Bookman Old Style"/>
              </a:rPr>
              <a:t>Michael Jarvis</a:t>
            </a:r>
            <a:endParaRPr lang="en-US" sz="1700" kern="0" spc="17" dirty="0">
              <a:solidFill>
                <a:srgbClr val="1E2761"/>
              </a:solidFill>
              <a:latin typeface="Bookman Old Style"/>
            </a:endParaRPr>
          </a:p>
        </p:txBody>
      </p:sp>
      <p:pic>
        <p:nvPicPr>
          <p:cNvPr id="17" name="Image 2" descr="01808e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197" y="1159520"/>
            <a:ext cx="5534025" cy="5048250"/>
          </a:xfrm>
          <a:prstGeom prst="rect">
            <a:avLst/>
          </a:prstGeom>
        </p:spPr>
      </p:pic>
      <p:pic>
        <p:nvPicPr>
          <p:cNvPr id="18" name="Image 3" descr="-6aa0d9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230" y="1279632"/>
            <a:ext cx="85725" cy="47625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05099" y="1527216"/>
            <a:ext cx="4971752" cy="304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400"/>
              </a:lnSpc>
            </a:pPr>
            <a:r>
              <a:rPr lang="en-US" sz="2400" b="1" kern="0" spc="24" dirty="0">
                <a:solidFill>
                  <a:srgbClr val="DC2626"/>
                </a:solidFill>
                <a:latin typeface="Bookman Old Style"/>
                <a:ea typeface="DM Sans Bold" pitchFamily="34" charset="-122"/>
                <a:cs typeface="DM Sans Bold" pitchFamily="34" charset="-120"/>
              </a:rPr>
              <a:t>Bo Heap</a:t>
            </a:r>
            <a:endParaRPr lang="en-US" b="1" dirty="0">
              <a:latin typeface="Bookman Old Style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705099" y="2073734"/>
            <a:ext cx="4971752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500"/>
              </a:lnSpc>
            </a:pPr>
            <a:r>
              <a:rPr lang="en-US" sz="1500" i="1" kern="0" spc="15" dirty="0">
                <a:solidFill>
                  <a:srgbClr val="4B5563"/>
                </a:solidFill>
                <a:latin typeface="Bookman Old Style"/>
                <a:ea typeface="Carlito Regular Italic" pitchFamily="34" charset="-122"/>
                <a:cs typeface="Carlito Regular Italic" pitchFamily="34" charset="-120"/>
              </a:rPr>
              <a:t>Territory Manager — Northeast</a:t>
            </a:r>
            <a:endParaRPr lang="en-US" dirty="0">
              <a:latin typeface="Bookman Old Style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766057" y="2694789"/>
            <a:ext cx="2167682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DC2626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18</a:t>
            </a:r>
            <a:endParaRPr lang="en-US" sz="2000" dirty="0">
              <a:latin typeface="Bookman Old Style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8899582" y="2712499"/>
            <a:ext cx="2777282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Massachusetts Stores</a:t>
            </a:r>
            <a:endParaRPr lang="en-US" sz="1700" dirty="0">
              <a:latin typeface="Bookman Old Style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766057" y="3304367"/>
            <a:ext cx="2167682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DC2626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$5.73M</a:t>
            </a:r>
            <a:endParaRPr lang="en-US" sz="2000" dirty="0">
              <a:latin typeface="Bookman Old Style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899582" y="3322078"/>
            <a:ext cx="2777282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6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Total Revenue (2022–2025)</a:t>
            </a:r>
            <a:endParaRPr lang="en-US" sz="1600" dirty="0">
              <a:latin typeface="Bookman Old Style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766057" y="3913946"/>
            <a:ext cx="2167682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DC2626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42,010</a:t>
            </a:r>
            <a:endParaRPr lang="en-US" sz="2000" dirty="0">
              <a:latin typeface="Bookman Old Style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899582" y="3931656"/>
            <a:ext cx="2777282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Transactions</a:t>
            </a:r>
            <a:endParaRPr lang="en-US" sz="1700" dirty="0">
              <a:latin typeface="Bookman Old Style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766057" y="4523525"/>
            <a:ext cx="2167682" cy="2571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2000" kern="0" spc="20" dirty="0">
                <a:solidFill>
                  <a:srgbClr val="DC2626"/>
                </a:solidFill>
                <a:latin typeface="Bookman Old Style"/>
                <a:ea typeface="Carlito Bold" pitchFamily="34" charset="-122"/>
                <a:cs typeface="Carlito Bold" pitchFamily="34" charset="-120"/>
              </a:rPr>
              <a:t>$2.13M</a:t>
            </a:r>
            <a:endParaRPr lang="en-US" sz="2000" dirty="0">
              <a:latin typeface="Bookman Old Style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8899582" y="4541235"/>
            <a:ext cx="2777282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Revenue in 2025 alone</a:t>
            </a:r>
            <a:endParaRPr lang="en-US" sz="1700" dirty="0">
              <a:latin typeface="Bookman Old Style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738647" y="5133103"/>
            <a:ext cx="2167682" cy="2462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kern="0" spc="20" dirty="0">
                <a:solidFill>
                  <a:srgbClr val="DC2626"/>
                </a:solidFill>
                <a:latin typeface="Bookman Old Style"/>
                <a:ea typeface="Carlito Bold"/>
                <a:cs typeface="Carlito Bold" pitchFamily="34" charset="-120"/>
              </a:rPr>
              <a:t>Region Director:</a:t>
            </a:r>
            <a:endParaRPr lang="en-US" sz="2000" dirty="0">
              <a:latin typeface="Bookman Old Style"/>
              <a:ea typeface="Carlito Bold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8899582" y="5150814"/>
            <a:ext cx="2777282" cy="2190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1725"/>
              </a:lnSpc>
            </a:pPr>
            <a:r>
              <a:rPr lang="en-US" sz="1700" kern="0" spc="17" dirty="0">
                <a:solidFill>
                  <a:srgbClr val="1E2761"/>
                </a:solidFill>
                <a:latin typeface="Bookman Old Style"/>
                <a:ea typeface="Carlito Regular" pitchFamily="34" charset="-122"/>
                <a:cs typeface="Carlito Regular" pitchFamily="34" charset="-120"/>
              </a:rPr>
              <a:t>Michael Jarvis</a:t>
            </a:r>
            <a:endParaRPr lang="en-US" sz="1700" dirty="0">
              <a:latin typeface="Bookman Old Style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0" y="6200775"/>
            <a:ext cx="12192000" cy="655657"/>
          </a:xfrm>
          <a:prstGeom prst="rect">
            <a:avLst/>
          </a:prstGeom>
          <a:solidFill>
            <a:srgbClr val="FDFAF2"/>
          </a:solidFill>
          <a:ln w="12700">
            <a:solidFill>
              <a:srgbClr val="000000">
                <a:alpha val="0"/>
              </a:srgbClr>
            </a:solidFill>
            <a:prstDash val="solid"/>
            <a:miter lim="800000"/>
          </a:ln>
        </p:spPr>
      </p:sp>
      <p:sp>
        <p:nvSpPr>
          <p:cNvPr id="32" name="Text 26"/>
          <p:cNvSpPr/>
          <p:nvPr/>
        </p:nvSpPr>
        <p:spPr>
          <a:xfrm>
            <a:off x="533400" y="6257885"/>
            <a:ext cx="11175950" cy="55989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205"/>
              </a:lnSpc>
            </a:pPr>
            <a:r>
              <a:rPr lang="en-US" sz="1550" kern="0" spc="16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Both territories operate within the same Northeast region, making this a direct, like-for-like performance</a:t>
            </a:r>
            <a:br>
              <a:rPr lang="en-US" sz="1550" kern="0" spc="16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550" kern="0" spc="16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comparison.</a:t>
            </a:r>
            <a:endParaRPr lang="en-US" sz="1550" dirty="0">
              <a:latin typeface="Bookman Old Sty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3545" y="375345"/>
            <a:ext cx="6424910" cy="112752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40"/>
              </a:lnSpc>
            </a:pP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Monthly Revenue Trends</a:t>
            </a:r>
            <a:br>
              <a:rPr lang="en-US" sz="3750" dirty="0">
                <a:latin typeface="Bookman Old Style"/>
                <a:ea typeface="Trocchi Regular" pitchFamily="34" charset="-122"/>
                <a:cs typeface="Trocchi Regular" pitchFamily="34" charset="-120"/>
              </a:rPr>
            </a:b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Miami Vue vs Bo Heap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619250"/>
            <a:ext cx="11334750" cy="2492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63"/>
              </a:lnSpc>
              <a:spcBef>
                <a:spcPts val="899"/>
              </a:spcBef>
            </a:pP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Northeast Region : January 2022 - September 2025</a:t>
            </a:r>
            <a:endParaRPr lang="en-US" sz="14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84754" y="2286000"/>
            <a:ext cx="11239500" cy="31337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chart1_monthly_revenue.png"/>
          <p:cNvPicPr>
            <a:picLocks noChangeAspect="1"/>
          </p:cNvPicPr>
          <p:nvPr/>
        </p:nvPicPr>
        <p:blipFill>
          <a:blip r:embed="rId3"/>
          <a:srcRect l="-9136" t="11763" r="-9136" b="1777"/>
          <a:stretch/>
        </p:blipFill>
        <p:spPr>
          <a:xfrm>
            <a:off x="-949072" y="1951598"/>
            <a:ext cx="13985987" cy="39450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895975"/>
            <a:ext cx="12192000" cy="962025"/>
          </a:xfrm>
          <a:prstGeom prst="rect">
            <a:avLst/>
          </a:prstGeom>
          <a:solidFill>
            <a:srgbClr val="FDFAF2"/>
          </a:solidFill>
          <a:ln>
            <a:miter lim="800000"/>
          </a:ln>
        </p:spPr>
      </p:sp>
      <p:sp>
        <p:nvSpPr>
          <p:cNvPr id="7" name="Text 4"/>
          <p:cNvSpPr/>
          <p:nvPr/>
        </p:nvSpPr>
        <p:spPr>
          <a:xfrm>
            <a:off x="1314450" y="6141988"/>
            <a:ext cx="9563100" cy="4691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48"/>
              </a:lnSpc>
            </a:pPr>
            <a:r>
              <a:rPr lang="en-US" sz="16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Overall upward revenue trend for both territories, with Miami Vue doubling its revenue by</a:t>
            </a:r>
            <a:br>
              <a:rPr lang="en-US" sz="1650" dirty="0">
                <a:latin typeface="Bookman Old Style"/>
                <a:ea typeface="DM Sans Medium" pitchFamily="34" charset="-122"/>
                <a:cs typeface="DM Sans Medium" pitchFamily="34" charset="-120"/>
              </a:rPr>
            </a:br>
            <a:r>
              <a:rPr lang="en-US" sz="16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2025 and peak sales observed in late 2025, indicating consistent positive long-term growth.</a:t>
            </a:r>
            <a:endParaRPr lang="en-US" dirty="0">
              <a:latin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5345"/>
            <a:ext cx="11334750" cy="5637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40"/>
              </a:lnSpc>
            </a:pP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Store Performance Rankings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55489"/>
            <a:ext cx="11334750" cy="2492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63"/>
              </a:lnSpc>
              <a:spcBef>
                <a:spcPts val="899"/>
              </a:spcBef>
            </a:pP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Top Stores by Territory</a:t>
            </a:r>
            <a:endParaRPr lang="en-US" sz="14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24025"/>
            <a:ext cx="11239500" cy="39338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chart2_store_rankings.png"/>
          <p:cNvPicPr>
            <a:picLocks noChangeAspect="1"/>
          </p:cNvPicPr>
          <p:nvPr/>
        </p:nvPicPr>
        <p:blipFill>
          <a:blip r:embed="rId3"/>
          <a:srcRect l="-5119" t="11292" r="-5119" b="1937"/>
          <a:stretch/>
        </p:blipFill>
        <p:spPr>
          <a:xfrm>
            <a:off x="476250" y="1724025"/>
            <a:ext cx="11239500" cy="3933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DFAF2"/>
          </a:solidFill>
          <a:ln>
            <a:miter lim="800000"/>
          </a:ln>
        </p:spPr>
      </p:sp>
      <p:sp>
        <p:nvSpPr>
          <p:cNvPr id="7" name="Text 4"/>
          <p:cNvSpPr/>
          <p:nvPr/>
        </p:nvSpPr>
        <p:spPr>
          <a:xfrm>
            <a:off x="1057275" y="6380113"/>
            <a:ext cx="10077450" cy="23455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848"/>
              </a:lnSpc>
            </a:pPr>
            <a:r>
              <a:rPr lang="en-US" sz="16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Miami Vue leads in sales for Newark and Trenton. Paterson requires investigation due to inactivity.</a:t>
            </a:r>
            <a:endParaRPr lang="en-US" dirty="0">
              <a:latin typeface="Bookman Old Sty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5345"/>
            <a:ext cx="11334750" cy="5637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40"/>
              </a:lnSpc>
            </a:pP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Product Category Insights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55489"/>
            <a:ext cx="11334750" cy="2492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63"/>
              </a:lnSpc>
              <a:spcBef>
                <a:spcPts val="899"/>
              </a:spcBef>
            </a:pP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Performance Overview - Revenue by Product</a:t>
            </a:r>
            <a:endParaRPr lang="en-US" sz="14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6250" y="1724025"/>
            <a:ext cx="11239500" cy="399097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chart3_category_revenue.png"/>
          <p:cNvPicPr>
            <a:picLocks noChangeAspect="1"/>
          </p:cNvPicPr>
          <p:nvPr/>
        </p:nvPicPr>
        <p:blipFill>
          <a:blip r:embed="rId3"/>
          <a:srcRect l="-15018" t="5008" r="-15018" b="1436"/>
          <a:stretch/>
        </p:blipFill>
        <p:spPr>
          <a:xfrm>
            <a:off x="476250" y="1724025"/>
            <a:ext cx="11239500" cy="39909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DFAF2"/>
          </a:solidFill>
          <a:ln>
            <a:miter lim="800000"/>
          </a:ln>
        </p:spPr>
      </p:sp>
      <p:sp>
        <p:nvSpPr>
          <p:cNvPr id="7" name="Text 4"/>
          <p:cNvSpPr/>
          <p:nvPr/>
        </p:nvSpPr>
        <p:spPr>
          <a:xfrm>
            <a:off x="90488" y="6415385"/>
            <a:ext cx="12011025" cy="22294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756"/>
              </a:lnSpc>
            </a:pPr>
            <a:r>
              <a:rPr lang="en-US" sz="15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Technology &amp; Accessories drives revenue and exhibits stronger long-term growth, while Textbooks show stable seasonality.</a:t>
            </a:r>
            <a:endParaRPr lang="en-US" sz="1550" dirty="0">
              <a:latin typeface="Bookman Old Sty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5345"/>
            <a:ext cx="11334750" cy="5637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440"/>
              </a:lnSpc>
            </a:pPr>
            <a:r>
              <a:rPr lang="en-US" sz="375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Trocchi Regular" pitchFamily="34" charset="-122"/>
                <a:cs typeface="Trocchi Regular" pitchFamily="34" charset="-120"/>
              </a:rPr>
              <a:t>2026 Marketing Recommendations</a:t>
            </a:r>
            <a:endParaRPr lang="en-US" dirty="0">
              <a:latin typeface="Bookman Old Sty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8625" y="1055489"/>
            <a:ext cx="11334750" cy="24928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963"/>
              </a:lnSpc>
              <a:spcBef>
                <a:spcPts val="899"/>
              </a:spcBef>
            </a:pPr>
            <a:r>
              <a:rPr lang="en-US" sz="1400" kern="0" spc="14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Strategic Imperatives for Growth</a:t>
            </a:r>
            <a:endParaRPr lang="en-US" sz="1400" dirty="0">
              <a:latin typeface="Bookman Old Style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8219" y="2602468"/>
            <a:ext cx="1428750" cy="1428750"/>
          </a:xfrm>
          <a:prstGeom prst="ellipse">
            <a:avLst/>
          </a:prstGeom>
          <a:solidFill>
            <a:srgbClr val="FFA300"/>
          </a:solidFill>
          <a:ln>
            <a:miter lim="800000"/>
          </a:ln>
        </p:spPr>
      </p:sp>
      <p:pic>
        <p:nvPicPr>
          <p:cNvPr id="5" name="Image 0" descr="-23c87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474" y="3015407"/>
            <a:ext cx="63817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1754" y="4130784"/>
            <a:ext cx="2481679" cy="5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Focus on Technology</a:t>
            </a:r>
            <a:br>
              <a:rPr lang="en-US" sz="1800" dirty="0">
                <a:latin typeface="Bookman Old Style"/>
                <a:ea typeface="DM Sans Medium" pitchFamily="34" charset="-122"/>
                <a:cs typeface="DM Sans Medium" pitchFamily="34" charset="-120"/>
              </a:rPr>
            </a:b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&amp; Accessories</a:t>
            </a:r>
            <a:endParaRPr lang="en-US" dirty="0">
              <a:latin typeface="Bookman Old Style"/>
            </a:endParaRPr>
          </a:p>
        </p:txBody>
      </p:sp>
      <p:sp>
        <p:nvSpPr>
          <p:cNvPr id="7" name="Text 4"/>
          <p:cNvSpPr/>
          <p:nvPr/>
        </p:nvSpPr>
        <p:spPr>
          <a:xfrm>
            <a:off x="518606" y="4727138"/>
            <a:ext cx="2367975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Direct marketing campaigns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towards the Technology &amp;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Accessories category.</a:t>
            </a:r>
            <a:endParaRPr lang="en-US" sz="1250" dirty="0">
              <a:latin typeface="Bookman Old Style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17156" y="2602468"/>
            <a:ext cx="1428750" cy="1428750"/>
          </a:xfrm>
          <a:prstGeom prst="ellipse">
            <a:avLst/>
          </a:prstGeom>
          <a:solidFill>
            <a:srgbClr val="A68118"/>
          </a:solidFill>
          <a:ln>
            <a:miter lim="800000"/>
          </a:ln>
        </p:spPr>
      </p:sp>
      <p:pic>
        <p:nvPicPr>
          <p:cNvPr id="9" name="Image 1" descr="-23c87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411" y="3015407"/>
            <a:ext cx="638175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74231" y="4130784"/>
            <a:ext cx="2514600" cy="5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Investigate</a:t>
            </a:r>
            <a:br>
              <a:rPr lang="en-US" sz="1800" dirty="0">
                <a:latin typeface="Bookman Old Style"/>
                <a:ea typeface="DM Sans Medium" pitchFamily="34" charset="-122"/>
                <a:cs typeface="DM Sans Medium" pitchFamily="34" charset="-120"/>
              </a:rPr>
            </a:b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Transaction Halt</a:t>
            </a:r>
            <a:endParaRPr lang="en-US" dirty="0">
              <a:latin typeface="Bookman Old Style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301782" y="4727138"/>
            <a:ext cx="2659499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Examine the cause of the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transaction halt at the Paterson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store.</a:t>
            </a:r>
            <a:endParaRPr lang="en-US" sz="1250" dirty="0">
              <a:latin typeface="Bookman Old Style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846094" y="2602468"/>
            <a:ext cx="1428750" cy="1428750"/>
          </a:xfrm>
          <a:prstGeom prst="ellipse">
            <a:avLst/>
          </a:prstGeom>
          <a:solidFill>
            <a:srgbClr val="FDD16E"/>
          </a:solidFill>
          <a:ln>
            <a:miter lim="800000"/>
          </a:ln>
        </p:spPr>
      </p:sp>
      <p:pic>
        <p:nvPicPr>
          <p:cNvPr id="13" name="Image 2" descr="-23c87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349" y="3015407"/>
            <a:ext cx="638175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3644" y="4130784"/>
            <a:ext cx="2533650" cy="5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Enhance Customer</a:t>
            </a:r>
            <a:br>
              <a:rPr lang="en-US" sz="1800" dirty="0">
                <a:latin typeface="Bookman Old Style"/>
                <a:ea typeface="DM Sans Medium" pitchFamily="34" charset="-122"/>
                <a:cs typeface="DM Sans Medium" pitchFamily="34" charset="-120"/>
              </a:rPr>
            </a:b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Acquisition</a:t>
            </a:r>
            <a:endParaRPr lang="en-US" dirty="0">
              <a:latin typeface="Bookman Old Style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23367" y="4727138"/>
            <a:ext cx="2674203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Expand rewards membership to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boost new customer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acquisition.</a:t>
            </a:r>
            <a:endParaRPr lang="en-US" sz="1250" dirty="0">
              <a:latin typeface="Bookman Old Style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9775031" y="2602468"/>
            <a:ext cx="1428750" cy="1428750"/>
          </a:xfrm>
          <a:prstGeom prst="ellipse">
            <a:avLst/>
          </a:prstGeom>
          <a:solidFill>
            <a:srgbClr val="F87C57"/>
          </a:solidFill>
          <a:ln>
            <a:miter lim="800000"/>
          </a:ln>
        </p:spPr>
      </p:sp>
      <p:pic>
        <p:nvPicPr>
          <p:cNvPr id="17" name="Image 3" descr="-23c87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286" y="3015407"/>
            <a:ext cx="638175" cy="609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84494" y="4130784"/>
            <a:ext cx="2409825" cy="5119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2016"/>
              </a:lnSpc>
            </a:pP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Pilot Targeted</a:t>
            </a:r>
            <a:br>
              <a:rPr lang="en-US" sz="1800" dirty="0">
                <a:latin typeface="Bookman Old Style"/>
                <a:ea typeface="DM Sans Medium" pitchFamily="34" charset="-122"/>
                <a:cs typeface="DM Sans Medium" pitchFamily="34" charset="-120"/>
              </a:rPr>
            </a:br>
            <a:r>
              <a:rPr lang="en-US" sz="1800" dirty="0">
                <a:solidFill>
                  <a:srgbClr val="1B2F35">
                    <a:alpha val="90000"/>
                  </a:srgbClr>
                </a:solidFill>
                <a:latin typeface="Bookman Old Style"/>
                <a:ea typeface="DM Sans Medium" pitchFamily="34" charset="-122"/>
                <a:cs typeface="DM Sans Medium" pitchFamily="34" charset="-120"/>
              </a:rPr>
              <a:t>Campaigns</a:t>
            </a:r>
            <a:endParaRPr lang="en-US" dirty="0">
              <a:latin typeface="Bookman Old Style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217655" y="4727138"/>
            <a:ext cx="2543502" cy="6799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785"/>
              </a:lnSpc>
              <a:spcBef>
                <a:spcPts val="652"/>
              </a:spcBef>
            </a:pP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Launch experimental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campaigns in high-performing</a:t>
            </a:r>
            <a:br>
              <a:rPr lang="en-US" sz="1250" kern="0" spc="13" dirty="0">
                <a:latin typeface="Bookman Old Style"/>
                <a:ea typeface="DM Sans Regular" pitchFamily="34" charset="-122"/>
                <a:cs typeface="DM Sans Regular" pitchFamily="34" charset="-120"/>
              </a:rPr>
            </a:br>
            <a:r>
              <a:rPr lang="en-US" sz="1250" kern="0" spc="13" dirty="0">
                <a:solidFill>
                  <a:srgbClr val="1C2F35">
                    <a:alpha val="70000"/>
                  </a:srgbClr>
                </a:solidFill>
                <a:latin typeface="Bookman Old Style"/>
                <a:ea typeface="DM Sans Regular" pitchFamily="34" charset="-122"/>
                <a:cs typeface="DM Sans Regular" pitchFamily="34" charset="-120"/>
              </a:rPr>
              <a:t>stores: Newark and Trenton.</a:t>
            </a:r>
            <a:endParaRPr lang="en-US" sz="1250" dirty="0">
              <a:latin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969C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113</cp:revision>
  <dcterms:created xsi:type="dcterms:W3CDTF">2026-05-27T00:54:58Z</dcterms:created>
  <dcterms:modified xsi:type="dcterms:W3CDTF">2026-05-27T16:36:19Z</dcterms:modified>
</cp:coreProperties>
</file>